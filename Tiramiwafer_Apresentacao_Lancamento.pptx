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1C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0"/>
            <a:ext cx="11731752" cy="73152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C8973A"/>
                </a:solidFill>
                <a:latin typeface="Calibri"/>
              </a:rPr>
              <a:t>TIRAMIWAFER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Plano de Lançamento  |  Kopenhagen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8973A"/>
                </a:solidFill>
                <a:latin typeface="Calibri"/>
              </a:rPr>
              <a:t>Inovação &amp; Renovação de Portfólio  ·  800 Lojas  ·  Projeção 12 Meses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7315200" cy="731520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8F0"/>
                </a:solidFill>
                <a:latin typeface="Calibri"/>
              </a:rPr>
              <a:t>"O prazer do Tiramisù em formato de shot — pronto em 5 minutos, para qualquer hora."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16161"/>
                </a:solidFill>
                <a:latin typeface="Calibri"/>
              </a:rPr>
              <a:t>Maio 2026  |  CONFIDENCIAL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09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16161"/>
                </a:solidFill>
                <a:latin typeface="Calibri"/>
              </a:rPr>
              <a:t>Analista Pleno — Inovação &amp; Renovação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914400"/>
          </a:xfrm>
          <a:prstGeom prst="rect">
            <a:avLst/>
          </a:prstGeom>
          <a:solidFill>
            <a:srgbClr val="3E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973A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502920" cy="502920"/>
          </a:xfrm>
          <a:prstGeom prst="rect">
            <a:avLst/>
          </a:prstGeom>
          <a:solidFill>
            <a:srgbClr val="3E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22529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8973A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2801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1C00"/>
                </a:solidFill>
                <a:latin typeface="Calibri"/>
              </a:rPr>
              <a:t>Contexto &amp; Desafio de Negócio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502920" cy="502920"/>
          </a:xfrm>
          <a:prstGeom prst="rect">
            <a:avLst/>
          </a:prstGeom>
          <a:solidFill>
            <a:srgbClr val="3E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213969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8973A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1945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1C00"/>
                </a:solidFill>
                <a:latin typeface="Calibri"/>
              </a:rPr>
              <a:t>O Produto — Tiramiwafer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017520"/>
            <a:ext cx="502920" cy="502920"/>
          </a:xfrm>
          <a:prstGeom prst="rect">
            <a:avLst/>
          </a:prstGeom>
          <a:solidFill>
            <a:srgbClr val="3E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305409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8973A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1089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1C00"/>
                </a:solidFill>
                <a:latin typeface="Calibri"/>
              </a:rPr>
              <a:t>Posicionamento &amp; Mercado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31920"/>
            <a:ext cx="502920" cy="502920"/>
          </a:xfrm>
          <a:prstGeom prst="rect">
            <a:avLst/>
          </a:prstGeom>
          <a:solidFill>
            <a:srgbClr val="3E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396849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8973A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02335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1C00"/>
                </a:solidFill>
                <a:latin typeface="Calibri"/>
              </a:rPr>
              <a:t>Economics por Unidade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846320"/>
            <a:ext cx="502920" cy="502920"/>
          </a:xfrm>
          <a:prstGeom prst="rect">
            <a:avLst/>
          </a:prstGeom>
          <a:solidFill>
            <a:srgbClr val="3E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488289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8973A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93775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1C00"/>
                </a:solidFill>
                <a:latin typeface="Calibri"/>
              </a:rPr>
              <a:t>Projeção de Vendas por Segmento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188720"/>
            <a:ext cx="502920" cy="502920"/>
          </a:xfrm>
          <a:prstGeom prst="rect">
            <a:avLst/>
          </a:prstGeom>
          <a:solidFill>
            <a:srgbClr val="3E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3056" y="122529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8973A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12801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1C00"/>
                </a:solidFill>
                <a:latin typeface="Calibri"/>
              </a:rPr>
              <a:t>Projeção 12M — 3 Cenários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103120"/>
            <a:ext cx="502920" cy="502920"/>
          </a:xfrm>
          <a:prstGeom prst="rect">
            <a:avLst/>
          </a:prstGeom>
          <a:solidFill>
            <a:srgbClr val="3E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63056" y="213969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8973A"/>
                </a:solidFill>
                <a:latin typeface="Calibr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21945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1C00"/>
                </a:solidFill>
                <a:latin typeface="Calibri"/>
              </a:rPr>
              <a:t>Papel no Portfólio &amp; Risco de Canibalização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017520"/>
            <a:ext cx="502920" cy="502920"/>
          </a:xfrm>
          <a:prstGeom prst="rect">
            <a:avLst/>
          </a:prstGeom>
          <a:solidFill>
            <a:srgbClr val="3E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63056" y="305409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8973A"/>
                </a:solidFill>
                <a:latin typeface="Calibri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1089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1C00"/>
                </a:solidFill>
                <a:latin typeface="Calibri"/>
              </a:rPr>
              <a:t>Plano de Lançamento Go-to-Market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3931920"/>
            <a:ext cx="502920" cy="502920"/>
          </a:xfrm>
          <a:prstGeom prst="rect">
            <a:avLst/>
          </a:prstGeom>
          <a:solidFill>
            <a:srgbClr val="3E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63056" y="396849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8973A"/>
                </a:solidFill>
                <a:latin typeface="Calibri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402335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1C00"/>
                </a:solidFill>
                <a:latin typeface="Calibri"/>
              </a:rPr>
              <a:t>Análise de Riscos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4846320"/>
            <a:ext cx="502920" cy="502920"/>
          </a:xfrm>
          <a:prstGeom prst="rect">
            <a:avLst/>
          </a:prstGeom>
          <a:solidFill>
            <a:srgbClr val="3E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63056" y="488289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8973A"/>
                </a:solidFill>
                <a:latin typeface="Calibri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93775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1C00"/>
                </a:solidFill>
                <a:latin typeface="Calibri"/>
              </a:rPr>
              <a:t>Executive Summary &amp; Próximos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E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914400"/>
          </a:xfrm>
          <a:prstGeom prst="rect">
            <a:avLst/>
          </a:prstGeom>
          <a:solidFill>
            <a:srgbClr val="3E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73A"/>
                </a:solidFill>
                <a:latin typeface="Calibri"/>
              </a:rPr>
              <a:t>01  |  CONTEXTO &amp; DESAFIO DE NEGÓCIO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3474720" cy="201168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887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Ticket Médio
Estagnado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Rede opera com TM médio de
R$ 24,01 — sem crescimento
orgânico significativo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97280"/>
            <a:ext cx="3474720" cy="201168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1887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737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Período Matinal
Inexplorado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317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8h–11h representa baixo tráfego
sem produto rápido + indulgente
para capturar a ocasião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59" y="1097280"/>
            <a:ext cx="3474720" cy="20116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1887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1737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60,7% das Lojas
em Baixa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3317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500 de 824 lojas abaixo do
potencial — oportunidade real
de ativação via novo produto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91840"/>
            <a:ext cx="11091672" cy="548640"/>
          </a:xfrm>
          <a:prstGeom prst="rect">
            <a:avLst/>
          </a:prstGeom>
          <a:solidFill>
            <a:srgbClr val="3E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337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973A"/>
                </a:solidFill>
                <a:latin typeface="Calibri"/>
              </a:rPr>
              <a:t>REDE KOPENHAGEN — DADOS REAIS (824 lojas analisadas)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886200"/>
            <a:ext cx="2011680" cy="9144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19" y="39502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E1C00"/>
                </a:solidFill>
                <a:latin typeface="Calibri"/>
              </a:rPr>
              <a:t>824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19" y="43708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B3F00"/>
                </a:solidFill>
                <a:latin typeface="Calibri"/>
              </a:rPr>
              <a:t>Lojas Analisadas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52928" y="3886200"/>
            <a:ext cx="2011680" cy="9144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44368" y="39502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E1C00"/>
                </a:solidFill>
                <a:latin typeface="Calibri"/>
              </a:rPr>
              <a:t>R$ 24,01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44368" y="43708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B3F00"/>
                </a:solidFill>
                <a:latin typeface="Calibri"/>
              </a:rPr>
              <a:t>Ticket Médio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65776" y="3886200"/>
            <a:ext cx="2011680" cy="9144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57216" y="39502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E1C00"/>
                </a:solidFill>
                <a:latin typeface="Calibri"/>
              </a:rPr>
              <a:t>7.418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57216" y="43708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B3F00"/>
                </a:solidFill>
                <a:latin typeface="Calibri"/>
              </a:rPr>
              <a:t>Cupons/Loja/Mês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886200"/>
            <a:ext cx="2011680" cy="9144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70064" y="39502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E1C00"/>
                </a:solidFill>
                <a:latin typeface="Calibri"/>
              </a:rPr>
              <a:t>R$ 177K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0064" y="43708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B3F00"/>
                </a:solidFill>
                <a:latin typeface="Calibri"/>
              </a:rPr>
              <a:t>Faturamento Médio/Loja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91472" y="3886200"/>
            <a:ext cx="2011680" cy="9144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82911" y="39502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E1C00"/>
                </a:solidFill>
                <a:latin typeface="Calibri"/>
              </a:rPr>
              <a:t>60,7%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82911" y="43708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B3F00"/>
                </a:solidFill>
                <a:latin typeface="Calibri"/>
              </a:rPr>
              <a:t>Lojas Baixa Perf.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029200"/>
            <a:ext cx="11091672" cy="7315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5029200"/>
            <a:ext cx="109728" cy="731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084064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B5E20"/>
                </a:solidFill>
                <a:latin typeface="Calibri"/>
              </a:rPr>
              <a:t>💡  OPORTUNIDADE: Lançar um produto que ative o período matinal, eleve o TM e gere novas ocasiões de consumo — sem adicionar complexidade operacional.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1C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914400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73A"/>
                </a:solidFill>
                <a:latin typeface="Calibri"/>
              </a:rPr>
              <a:t>02  |  O PRODUTO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5303520" cy="10972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E1C00"/>
                </a:solidFill>
                <a:latin typeface="Calibri"/>
              </a:rPr>
              <a:t>TIRAMIWAFER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8F0"/>
                </a:solidFill>
                <a:latin typeface="Calibri"/>
              </a:rPr>
              <a:t>"Shot matinal de chantilly com base de wafer avelã
Kopenhagen e pó de chocolate 100%"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108960"/>
            <a:ext cx="5303520" cy="3017520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1821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973A"/>
                </a:solidFill>
                <a:latin typeface="Calibri"/>
              </a:rPr>
              <a:t>COMPOSIÇÃO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118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6118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Chantilly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88620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8F0"/>
                </a:solidFill>
                <a:latin typeface="Calibri"/>
              </a:rPr>
              <a:t>230 ml  ·  65,7% do CPV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2976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Wafer Avelã Kopenhagen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57200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8F0"/>
                </a:solidFill>
                <a:latin typeface="Calibri"/>
              </a:rPr>
              <a:t>15 g  ·  Ingrediente de marca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9834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9834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Chocolate em Pó 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25780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8F0"/>
                </a:solidFill>
                <a:latin typeface="Calibri"/>
              </a:rPr>
              <a:t>10 g  ·  Diferencial premium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005840"/>
            <a:ext cx="5394960" cy="960120"/>
          </a:xfrm>
          <a:prstGeom prst="rect">
            <a:avLst/>
          </a:prstGeom>
          <a:solidFill>
            <a:srgbClr val="5C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0607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973A"/>
                </a:solidFill>
                <a:latin typeface="Calibri"/>
              </a:rPr>
              <a:t>⏱️  Preparo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3533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5 minutos — sem equipamento novo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6459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8F0"/>
                </a:solidFill>
                <a:latin typeface="Calibri"/>
              </a:rPr>
              <a:t>Compatível com operação atual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103120"/>
            <a:ext cx="5394960" cy="960120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2157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973A"/>
                </a:solidFill>
                <a:latin typeface="Calibri"/>
              </a:rPr>
              <a:t>👤  Operação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45059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Atendente padrão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7432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8F0"/>
                </a:solidFill>
                <a:latin typeface="Calibri"/>
              </a:rPr>
              <a:t>Sem treinamento especializado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200400"/>
            <a:ext cx="5394960" cy="960120"/>
          </a:xfrm>
          <a:prstGeom prst="rect">
            <a:avLst/>
          </a:prstGeom>
          <a:solidFill>
            <a:srgbClr val="5C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2552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973A"/>
                </a:solidFill>
                <a:latin typeface="Calibri"/>
              </a:rPr>
              <a:t>📦  Insumos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5478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Majoritariamente já existentes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84048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8F0"/>
                </a:solidFill>
                <a:latin typeface="Calibri"/>
              </a:rPr>
              <a:t>Wafer K + chantilly + chocolate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4297679"/>
            <a:ext cx="5394960" cy="960120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4352543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973A"/>
                </a:solidFill>
                <a:latin typeface="Calibri"/>
              </a:rPr>
              <a:t>🎨  Visual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64515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Copo acrílico transparente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93775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8F0"/>
                </a:solidFill>
                <a:latin typeface="Calibri"/>
              </a:rPr>
              <a:t>Alta potência nas redes sociais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5394960"/>
            <a:ext cx="5394960" cy="960120"/>
          </a:xfrm>
          <a:prstGeom prst="rect">
            <a:avLst/>
          </a:prstGeom>
          <a:solidFill>
            <a:srgbClr val="5C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54498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973A"/>
                </a:solidFill>
                <a:latin typeface="Calibri"/>
              </a:rPr>
              <a:t>🕗  Ocasião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7424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Manhã (8–11h) e Tarde (14–17h)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60350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8F0"/>
                </a:solidFill>
                <a:latin typeface="Calibri"/>
              </a:rPr>
              <a:t>Janelas de baixo tráfego atual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E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914400"/>
          </a:xfrm>
          <a:prstGeom prst="rect">
            <a:avLst/>
          </a:prstGeom>
          <a:solidFill>
            <a:srgbClr val="3E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73A"/>
                </a:solidFill>
                <a:latin typeface="Calibri"/>
              </a:rPr>
              <a:t>03  |  POSICIONAMENTO &amp; MERCADO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7315200" cy="457200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BENCHMARK COMPETITIVO — FAIXA DE PREÇO E POSICIONAMENTO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1828800" cy="347472"/>
          </a:xfrm>
          <a:prstGeom prst="rect">
            <a:avLst/>
          </a:prstGeom>
          <a:solidFill>
            <a:srgbClr val="3E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361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8973A"/>
                </a:solidFill>
                <a:latin typeface="Calibri"/>
              </a:rPr>
              <a:t>Concorrente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508760"/>
            <a:ext cx="2286000" cy="347472"/>
          </a:xfrm>
          <a:prstGeom prst="rect">
            <a:avLst/>
          </a:prstGeom>
          <a:solidFill>
            <a:srgbClr val="3E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53619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8973A"/>
                </a:solidFill>
                <a:latin typeface="Calibri"/>
              </a:rPr>
              <a:t>Produto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508760"/>
            <a:ext cx="1097280" cy="347472"/>
          </a:xfrm>
          <a:prstGeom prst="rect">
            <a:avLst/>
          </a:prstGeom>
          <a:solidFill>
            <a:srgbClr val="3E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536192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8973A"/>
                </a:solidFill>
                <a:latin typeface="Calibri"/>
              </a:rPr>
              <a:t>Preço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1508760"/>
            <a:ext cx="3657600" cy="347472"/>
          </a:xfrm>
          <a:prstGeom prst="rect">
            <a:avLst/>
          </a:prstGeom>
          <a:solidFill>
            <a:srgbClr val="3E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153619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8973A"/>
                </a:solidFill>
                <a:latin typeface="Calibri"/>
              </a:rPr>
              <a:t>Diferencial Tiramiwafer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874519"/>
            <a:ext cx="1828800" cy="420624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19019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Starbucks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1874519"/>
            <a:ext cx="2286000" cy="420624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23744" y="190195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Frappuccino base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1874519"/>
            <a:ext cx="1097280" cy="420624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9744" y="1901952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R$ 26–34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1874519"/>
            <a:ext cx="3657600" cy="420624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07024" y="190195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Choc. premium + wafer exclusivo 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313432"/>
            <a:ext cx="18288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234086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Bob's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80" y="2313432"/>
            <a:ext cx="2286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23744" y="23408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Milk shake simples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2313432"/>
            <a:ext cx="10972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9744" y="2340864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R$ 18–22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2313432"/>
            <a:ext cx="3657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07024" y="234086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Posicionamento premium superior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752344"/>
            <a:ext cx="1828800" cy="420624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" y="277977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Cacau Show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68880" y="2752344"/>
            <a:ext cx="2286000" cy="420624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23744" y="277977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Bebidas quentes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2752344"/>
            <a:ext cx="1097280" cy="420624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09744" y="2779776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R$ 20–28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52160" y="2752344"/>
            <a:ext cx="3657600" cy="420624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07024" y="277977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Textura única (crocante + cremoso)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3191256"/>
            <a:ext cx="18288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" y="321868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KOP atual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68880" y="3191256"/>
            <a:ext cx="2286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23744" y="321868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Chocolates quentes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54880" y="3191256"/>
            <a:ext cx="10972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09744" y="3218688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R$ 19–29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52160" y="3191256"/>
            <a:ext cx="3657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07024" y="321868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Nova ocasião — frio + matinal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3630168"/>
            <a:ext cx="1828800" cy="42062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" y="36576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1C00"/>
                </a:solidFill>
                <a:latin typeface="Calibri"/>
              </a:rPr>
              <a:t>TIRAMIWAFER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68880" y="3630168"/>
            <a:ext cx="2286000" cy="42062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523744" y="365760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1C00"/>
                </a:solidFill>
                <a:latin typeface="Calibri"/>
              </a:rPr>
              <a:t>Shot matinal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54880" y="3630168"/>
            <a:ext cx="1097280" cy="42062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09744" y="3657600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1C00"/>
                </a:solidFill>
                <a:latin typeface="Calibri"/>
              </a:rPr>
              <a:t>R$ 24,90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52160" y="3630168"/>
            <a:ext cx="3657600" cy="42062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07024" y="36576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1C00"/>
                </a:solidFill>
                <a:latin typeface="Calibri"/>
              </a:rPr>
              <a:t>✅ Hero ingredient = wafer 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38160" y="1005840"/>
            <a:ext cx="3931920" cy="5303520"/>
          </a:xfrm>
          <a:prstGeom prst="rect">
            <a:avLst/>
          </a:prstGeom>
          <a:solidFill>
            <a:srgbClr val="3E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0" y="10789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973A"/>
                </a:solidFill>
                <a:latin typeface="Calibri"/>
              </a:rPr>
              <a:t>CLIENTE IDEAL (ICP)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1554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👩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23960" y="162763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8F0"/>
                </a:solidFill>
                <a:latin typeface="Calibri"/>
              </a:rPr>
              <a:t>Mulheres 25–45 anos, AB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21040" y="221284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🛍️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23960" y="22860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8F0"/>
                </a:solidFill>
                <a:latin typeface="Calibri"/>
              </a:rPr>
              <a:t>Frequentadoras de shopping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2871215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23960" y="29443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8F0"/>
                </a:solidFill>
                <a:latin typeface="Calibri"/>
              </a:rPr>
              <a:t>Ativas no Instagram/TikTok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21040" y="3529584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☕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23960" y="360273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8F0"/>
                </a:solidFill>
                <a:latin typeface="Calibri"/>
              </a:rPr>
              <a:t>'Coffee-breaker' matinal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21040" y="418795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💝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23960" y="4261104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8F0"/>
                </a:solidFill>
                <a:latin typeface="Calibri"/>
              </a:rPr>
              <a:t>Buscam recompensa rápida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21040" y="48463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23960" y="49194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8F0"/>
                </a:solidFill>
                <a:latin typeface="Calibri"/>
              </a:rPr>
              <a:t>Produto visualmente atrativo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0080" y="5120640"/>
            <a:ext cx="7315200" cy="685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" y="5120640"/>
            <a:ext cx="109728" cy="6858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2960" y="5175504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B5E20"/>
                </a:solidFill>
                <a:latin typeface="Calibri"/>
              </a:rPr>
              <a:t>📌  R$ 24,90 posiciona o Tiramiwafer ACIMA do TM atual da rede (R$ 24,01) elevando automaticamente o ticket médio a cada venda.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1C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914400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73A"/>
                </a:solidFill>
                <a:latin typeface="Calibri"/>
              </a:rPr>
              <a:t>04  |  ECONOMICS POR UNIDADE VENDIDA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973A"/>
                </a:solidFill>
                <a:latin typeface="Calibri"/>
              </a:rPr>
              <a:t>Preço de Venda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1143000"/>
            <a:ext cx="8686800" cy="384048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0" y="11704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973A"/>
                </a:solidFill>
                <a:latin typeface="Calibri"/>
              </a:rPr>
              <a:t>R$ +24.90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17043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8973A"/>
                </a:solidFill>
                <a:latin typeface="Calibri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(-) Impostos 10,7%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965960"/>
            <a:ext cx="927987" cy="38404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99987" y="19933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R$ -2.66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199339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8F0"/>
                </a:solidFill>
                <a:latin typeface="Calibri"/>
              </a:rPr>
              <a:t>-10,7%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4320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973A"/>
                </a:solidFill>
                <a:latin typeface="Calibri"/>
              </a:rPr>
              <a:t>Receita Líquida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2788920"/>
            <a:ext cx="7758812" cy="38404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30812" y="28163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973A"/>
                </a:solidFill>
                <a:latin typeface="Calibri"/>
              </a:rPr>
              <a:t>R$ +22.24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281635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8973A"/>
                </a:solidFill>
                <a:latin typeface="Calibri"/>
              </a:rPr>
              <a:t>89,3%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6616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(-) Insumos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3611880"/>
            <a:ext cx="2606040" cy="38404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8040" y="36393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R$ -7.47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36393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8F0"/>
                </a:solidFill>
                <a:latin typeface="Calibri"/>
              </a:rPr>
              <a:t>-30,0%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(-) ICMS 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434840"/>
            <a:ext cx="55818" cy="38404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7818" y="44622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R$ -0.16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446227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8F0"/>
                </a:solidFill>
                <a:latin typeface="Calibri"/>
              </a:rPr>
              <a:t>-0,6%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2120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973A"/>
                </a:solidFill>
                <a:latin typeface="Calibri"/>
              </a:rPr>
              <a:t>MARGEM DE CONTRIBUIÇÃO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5257800"/>
            <a:ext cx="5096953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68953" y="52852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973A"/>
                </a:solidFill>
                <a:latin typeface="Calibri"/>
              </a:rPr>
              <a:t>R$ +14.61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528523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8973A"/>
                </a:solidFill>
                <a:latin typeface="Calibri"/>
              </a:rPr>
              <a:t>58,6%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989320"/>
            <a:ext cx="11091672" cy="6858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60807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✅  CMC de 58,6% SUPERA o target mínimo de 48,0% em +10,6 pontos percentuais  |  Melhor margem possível sem abrir mão do preço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E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914400"/>
          </a:xfrm>
          <a:prstGeom prst="rect">
            <a:avLst/>
          </a:prstGeom>
          <a:solidFill>
            <a:srgbClr val="3E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73A"/>
                </a:solidFill>
                <a:latin typeface="Calibri"/>
              </a:rPr>
              <a:t>05  |  SEGMENTAÇÃO DAS LOJAS — BASE DO MODELO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3474720" cy="7315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05156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0515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ALTA
PERFORMANCE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55648"/>
            <a:ext cx="3474720" cy="30175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  <a:latin typeface="Calibri"/>
              </a:rPr>
              <a:t>Nº de Lojas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848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65C0"/>
                </a:solidFill>
                <a:latin typeface="Calibri"/>
              </a:rPr>
              <a:t>7 lojas
(0,8% da rede)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871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  <a:latin typeface="Calibri"/>
              </a:rPr>
              <a:t>Ticket Médio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432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65C0"/>
                </a:solidFill>
                <a:latin typeface="Calibri"/>
              </a:rPr>
              <a:t>R$ 35,81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455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  <a:latin typeface="Calibri"/>
              </a:rPr>
              <a:t>Cupons/Dia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015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65C0"/>
                </a:solidFill>
                <a:latin typeface="Calibri"/>
              </a:rPr>
              <a:t>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039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  <a:latin typeface="Calibri"/>
              </a:rPr>
              <a:t>Cupons/Mês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05993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65C0"/>
                </a:solidFill>
                <a:latin typeface="Calibri"/>
              </a:rPr>
              <a:t>1,144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828032"/>
            <a:ext cx="3474720" cy="9144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19" y="48646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PENETRAÇÃO ALVO (% cupons/dia)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19" y="5138928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8973A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1005840"/>
            <a:ext cx="3474720" cy="7315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105156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10515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MÉDIA
PERFORMANCE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1755648"/>
            <a:ext cx="3474720" cy="301752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1828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  <a:latin typeface="Calibri"/>
              </a:rPr>
              <a:t>Nº de Lojas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0848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D32"/>
                </a:solidFill>
                <a:latin typeface="Calibri"/>
              </a:rPr>
              <a:t>306 lojas
(38,3% da rede)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4871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  <a:latin typeface="Calibri"/>
              </a:rPr>
              <a:t>Ticket Médio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7432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D32"/>
                </a:solidFill>
                <a:latin typeface="Calibri"/>
              </a:rPr>
              <a:t>R$ 25,38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1455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  <a:latin typeface="Calibri"/>
              </a:rPr>
              <a:t>Cupons/Dia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4015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D32"/>
                </a:solidFill>
                <a:latin typeface="Calibri"/>
              </a:rPr>
              <a:t>177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8039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  <a:latin typeface="Calibri"/>
              </a:rPr>
              <a:t>Cupons/Mês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05993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D32"/>
                </a:solidFill>
                <a:latin typeface="Calibri"/>
              </a:rPr>
              <a:t>4,602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34840" y="4828032"/>
            <a:ext cx="3474720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48646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PENETRAÇÃO ALVO (% cupons/dia)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5138928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8973A"/>
                </a:solidFill>
                <a:latin typeface="Calibri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1005840"/>
            <a:ext cx="3474720" cy="7315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105156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10515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BAIXA
PERFORMANCE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1755648"/>
            <a:ext cx="3474720" cy="3017520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6760" y="1828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  <a:latin typeface="Calibri"/>
              </a:rPr>
              <a:t>Nº de Lojas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20848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5100"/>
                </a:solidFill>
                <a:latin typeface="Calibri"/>
              </a:rPr>
              <a:t>487 lojas
(60,7% da rede)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24871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  <a:latin typeface="Calibri"/>
              </a:rPr>
              <a:t>Ticket Médio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27432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5100"/>
                </a:solidFill>
                <a:latin typeface="Calibri"/>
              </a:rPr>
              <a:t>R$ 22,97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31455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  <a:latin typeface="Calibri"/>
              </a:rPr>
              <a:t>Cupons/Dia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34015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5100"/>
                </a:solidFill>
                <a:latin typeface="Calibri"/>
              </a:rPr>
              <a:t>123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38039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  <a:latin typeface="Calibri"/>
              </a:rPr>
              <a:t>Cupons/Mês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405993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5100"/>
                </a:solidFill>
                <a:latin typeface="Calibri"/>
              </a:rPr>
              <a:t>3,198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4828032"/>
            <a:ext cx="3474720" cy="9144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40" y="48646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PENETRAÇÃO ALVO (% cupons/dia)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5138928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8973A"/>
                </a:solidFill>
                <a:latin typeface="Calibri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5852160"/>
            <a:ext cx="11091672" cy="77724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0080" y="5852160"/>
            <a:ext cx="109728" cy="777240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5907024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E1C00"/>
                </a:solidFill>
                <a:latin typeface="Calibri"/>
              </a:rPr>
              <a:t>Lógica: penetração maior em lojas de ALTA (TM elevado, público premium) e menor em BAIXA (menor tráfego, sensibilidade de preço maior). A maior alavanca de receita está nas lojas de MÉDIA e BAIXA pelo volume: 306+487 = 793 de 800 lojas.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1C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914400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73A"/>
                </a:solidFill>
                <a:latin typeface="Calibri"/>
              </a:rPr>
              <a:t>05  |  PROJEÇÃO DE VENDAS — POR SEGMENTO (maturidade)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5486400" cy="457200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UN/LOJA/MÊS — NA MATURIDADE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1298448" cy="36576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36192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1C00"/>
                </a:solidFill>
                <a:latin typeface="Calibri"/>
              </a:rPr>
              <a:t>Segmento</a:t>
            </a:r>
          </a:p>
        </p:txBody>
      </p:sp>
      <p:sp>
        <p:nvSpPr>
          <p:cNvPr id="9" name="Rectangle 8"/>
          <p:cNvSpPr/>
          <p:nvPr/>
        </p:nvSpPr>
        <p:spPr>
          <a:xfrm>
            <a:off x="1993391" y="1508760"/>
            <a:ext cx="1298448" cy="36576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39111" y="1536192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1C00"/>
                </a:solidFill>
                <a:latin typeface="Calibri"/>
              </a:rPr>
              <a:t>Pessimista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6704" y="1508760"/>
            <a:ext cx="1298448" cy="36576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2424" y="1536192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1C00"/>
                </a:solidFill>
                <a:latin typeface="Calibri"/>
              </a:rPr>
              <a:t>Realista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0016" y="1508760"/>
            <a:ext cx="1298448" cy="36576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5736" y="1536192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1C00"/>
                </a:solidFill>
                <a:latin typeface="Calibri"/>
              </a:rPr>
              <a:t>Otimista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920240"/>
            <a:ext cx="5413248" cy="548640"/>
          </a:xfrm>
          <a:prstGeom prst="rect">
            <a:avLst/>
          </a:prstGeom>
          <a:solidFill>
            <a:srgbClr val="5C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1993392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🔵 ALTA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93391" y="1993392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73A"/>
                </a:solidFill>
                <a:latin typeface="Calibri"/>
              </a:rPr>
              <a:t>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46704" y="1993392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73A"/>
                </a:solidFill>
                <a:latin typeface="Calibri"/>
              </a:rPr>
              <a:t>57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0016" y="1993392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73A"/>
                </a:solidFill>
                <a:latin typeface="Calibri"/>
              </a:rPr>
              <a:t>92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514600"/>
            <a:ext cx="5413248" cy="548640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2587752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🟢 MÉDIA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93391" y="2587752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73A"/>
                </a:solidFill>
                <a:latin typeface="Calibri"/>
              </a:rPr>
              <a:t>92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2587752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73A"/>
                </a:solidFill>
                <a:latin typeface="Calibri"/>
              </a:rPr>
              <a:t>161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0016" y="2587752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73A"/>
                </a:solidFill>
                <a:latin typeface="Calibri"/>
              </a:rPr>
              <a:t>253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108960"/>
            <a:ext cx="5413248" cy="548640"/>
          </a:xfrm>
          <a:prstGeom prst="rect">
            <a:avLst/>
          </a:prstGeom>
          <a:solidFill>
            <a:srgbClr val="5C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3182112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🟠 BAIXA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93391" y="3182112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73A"/>
                </a:solidFill>
                <a:latin typeface="Calibri"/>
              </a:rPr>
              <a:t>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46704" y="3182112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73A"/>
                </a:solidFill>
                <a:latin typeface="Calibri"/>
              </a:rPr>
              <a:t>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3182112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73A"/>
                </a:solidFill>
                <a:latin typeface="Calibri"/>
              </a:rPr>
              <a:t>128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005840"/>
            <a:ext cx="5212080" cy="457200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1051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RECEITA BRUTA/MÊS — REDE TOTAL (maturidade)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1508760"/>
            <a:ext cx="1261872" cy="36576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153619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1C00"/>
                </a:solidFill>
                <a:latin typeface="Calibri"/>
              </a:rPr>
              <a:t>Segmento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90104" y="1508760"/>
            <a:ext cx="1261872" cy="36576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35824" y="153619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1C00"/>
                </a:solidFill>
                <a:latin typeface="Calibri"/>
              </a:rPr>
              <a:t>Pessimista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79408" y="1508760"/>
            <a:ext cx="1261872" cy="36576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25128" y="153619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1C00"/>
                </a:solidFill>
                <a:latin typeface="Calibri"/>
              </a:rPr>
              <a:t>Realista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268712" y="1508760"/>
            <a:ext cx="1261872" cy="36576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14432" y="153619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1C00"/>
                </a:solidFill>
                <a:latin typeface="Calibri"/>
              </a:rPr>
              <a:t>Otimista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1920240"/>
            <a:ext cx="5157216" cy="548640"/>
          </a:xfrm>
          <a:prstGeom prst="rect">
            <a:avLst/>
          </a:prstGeom>
          <a:solidFill>
            <a:srgbClr val="5C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73952" y="1993392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🔵 ALTA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90104" y="1993392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8973A"/>
                </a:solidFill>
                <a:latin typeface="Calibri"/>
              </a:rPr>
              <a:t>R$6K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79408" y="1993392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8973A"/>
                </a:solidFill>
                <a:latin typeface="Calibri"/>
              </a:rPr>
              <a:t>R$10K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68712" y="1993392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8973A"/>
                </a:solidFill>
                <a:latin typeface="Calibri"/>
              </a:rPr>
              <a:t>R$16K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2514600"/>
            <a:ext cx="5157216" cy="548640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73952" y="2587752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🟢 MÉDIA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90104" y="2587752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8973A"/>
                </a:solidFill>
                <a:latin typeface="Calibri"/>
              </a:rPr>
              <a:t>R$701K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79408" y="2587752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8973A"/>
                </a:solidFill>
                <a:latin typeface="Calibri"/>
              </a:rPr>
              <a:t>R$1227K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68712" y="2587752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8973A"/>
                </a:solidFill>
                <a:latin typeface="Calibri"/>
              </a:rPr>
              <a:t>R$1928K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3108960"/>
            <a:ext cx="5157216" cy="548640"/>
          </a:xfrm>
          <a:prstGeom prst="rect">
            <a:avLst/>
          </a:prstGeom>
          <a:solidFill>
            <a:srgbClr val="5C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73952" y="3182112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🟠 BAIXA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90104" y="3182112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8973A"/>
                </a:solidFill>
                <a:latin typeface="Calibri"/>
              </a:rPr>
              <a:t>R$582K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79408" y="3182112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8973A"/>
                </a:solidFill>
                <a:latin typeface="Calibri"/>
              </a:rPr>
              <a:t>R$970K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68712" y="3182112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8973A"/>
                </a:solidFill>
                <a:latin typeface="Calibri"/>
              </a:rPr>
              <a:t>R$1552K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3337560"/>
            <a:ext cx="5413248" cy="54864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3232" y="3410712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E1C00"/>
                </a:solidFill>
                <a:latin typeface="Calibri"/>
              </a:rPr>
              <a:t>TOTAL REDE/MÊS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93391" y="3410712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E1C00"/>
                </a:solidFill>
                <a:latin typeface="Calibri"/>
              </a:rPr>
              <a:t>51,766 un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46704" y="3410712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E1C00"/>
                </a:solidFill>
                <a:latin typeface="Calibri"/>
              </a:rPr>
              <a:t>88,625 un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00016" y="3410712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E1C00"/>
                </a:solidFill>
                <a:latin typeface="Calibri"/>
              </a:rPr>
              <a:t>140,398 un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3337560"/>
            <a:ext cx="5157216" cy="54864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73952" y="3410712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E1C00"/>
                </a:solidFill>
                <a:latin typeface="Calibri"/>
              </a:rPr>
              <a:t>TOTAL REDE/MÊS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90104" y="3410712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E1C00"/>
                </a:solidFill>
                <a:latin typeface="Calibri"/>
              </a:rPr>
              <a:t>R$1289K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79408" y="3410712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E1C00"/>
                </a:solidFill>
                <a:latin typeface="Calibri"/>
              </a:rPr>
              <a:t>R$2207K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68712" y="3410712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E1C00"/>
                </a:solidFill>
                <a:latin typeface="Calibri"/>
              </a:rPr>
              <a:t>R$3496K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" y="4160520"/>
            <a:ext cx="10972800" cy="2423160"/>
          </a:xfrm>
          <a:prstGeom prst="rect">
            <a:avLst/>
          </a:prstGeom>
          <a:solidFill>
            <a:srgbClr val="4A2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7240" y="422452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73A"/>
                </a:solidFill>
                <a:latin typeface="Calibri"/>
              </a:rPr>
              <a:t>COMPOSIÇÃO DO VOLUME REALISTA (na maturidade — 800 lojas)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4663440"/>
            <a:ext cx="43225" cy="6400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57625" y="4663440"/>
            <a:ext cx="5337238" cy="640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49065" y="4709160"/>
            <a:ext cx="51543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Média 306 lojas
49,266 un  (55,5%)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94863" y="4663440"/>
            <a:ext cx="4220736" cy="6400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86303" y="4709160"/>
            <a:ext cx="40378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Baixa 487 lojas
38,960 un  (44,0%)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7240" y="54132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8F0"/>
                </a:solidFill>
                <a:latin typeface="Calibri"/>
              </a:rPr>
              <a:t>Total: 88,625 un/mês na maturidade = R$ 2207K/mês receita bruta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7240" y="58338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8F00"/>
                </a:solidFill>
                <a:latin typeface="Calibri"/>
              </a:rPr>
              <a:t>⚠️  A maior oportunidade de receita está nas 793 lojas de MÉDIA + BAIXA performance — que juntas representam +99% do volume.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E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914400"/>
          </a:xfrm>
          <a:prstGeom prst="rect">
            <a:avLst/>
          </a:prstGeom>
          <a:solidFill>
            <a:srgbClr val="3E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73A"/>
                </a:solidFill>
                <a:latin typeface="Calibri"/>
              </a:rPr>
              <a:t>06  |  PROJEÇÃO 12 MESES — RECEITA BRUTA (3 CENÁRIOS)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1783080" cy="91440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0515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VOL. ANO 1
Pessimista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1" y="1371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521,285 un</a:t>
            </a:r>
          </a:p>
        </p:txBody>
      </p:sp>
      <p:sp>
        <p:nvSpPr>
          <p:cNvPr id="8" name="Rectangle 7"/>
          <p:cNvSpPr/>
          <p:nvPr/>
        </p:nvSpPr>
        <p:spPr>
          <a:xfrm>
            <a:off x="2532887" y="1005840"/>
            <a:ext cx="1783080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39" y="10515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VOL. ANO 1
Realista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39" y="1371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892,453 un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5696" y="1005840"/>
            <a:ext cx="1783080" cy="9144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0515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VOL. ANO 1
Otimista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1371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1,413,808 un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18503" y="1005840"/>
            <a:ext cx="1783080" cy="91440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5" y="10515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RB ANO 1
Pessimista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5" y="1371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R$ 13.0M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11311" y="1005840"/>
            <a:ext cx="1783080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3" y="10515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RB ANO 1
Realista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3" y="1371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R$ 22.2M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04119" y="1005840"/>
            <a:ext cx="1783080" cy="9144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77272" y="10515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RB ANO 1
Otimista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77272" y="1371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R$ 35.2M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057400"/>
            <a:ext cx="11091672" cy="384048"/>
          </a:xfrm>
          <a:prstGeom prst="rect">
            <a:avLst/>
          </a:prstGeom>
          <a:solidFill>
            <a:srgbClr val="3E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2084831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973A"/>
                </a:solidFill>
                <a:latin typeface="Calibri"/>
              </a:rPr>
              <a:t>Jan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2084831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973A"/>
                </a:solidFill>
                <a:latin typeface="Calibri"/>
              </a:rPr>
              <a:t>Fev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50592" y="2084831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973A"/>
                </a:solidFill>
                <a:latin typeface="Calibri"/>
              </a:rPr>
              <a:t>Mar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46703" y="2084831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973A"/>
                </a:solidFill>
                <a:latin typeface="Calibri"/>
              </a:rPr>
              <a:t>Abr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42816" y="2084831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973A"/>
                </a:solidFill>
                <a:latin typeface="Calibri"/>
              </a:rPr>
              <a:t>Mai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38928" y="2084831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973A"/>
                </a:solidFill>
                <a:latin typeface="Calibri"/>
              </a:rPr>
              <a:t>Jun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2084831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973A"/>
                </a:solidFill>
                <a:latin typeface="Calibri"/>
              </a:rPr>
              <a:t>Jul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1151" y="2084831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973A"/>
                </a:solidFill>
                <a:latin typeface="Calibri"/>
              </a:rPr>
              <a:t>Ago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27263" y="2084831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973A"/>
                </a:solidFill>
                <a:latin typeface="Calibri"/>
              </a:rPr>
              <a:t>Set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23376" y="2084831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973A"/>
                </a:solidFill>
                <a:latin typeface="Calibri"/>
              </a:rPr>
              <a:t>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19488" y="2084831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973A"/>
                </a:solidFill>
                <a:latin typeface="Calibri"/>
              </a:rPr>
              <a:t>Nov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599" y="2084831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973A"/>
                </a:solidFill>
                <a:latin typeface="Calibri"/>
              </a:rPr>
              <a:t>Dez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2084831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973A"/>
                </a:solidFill>
                <a:latin typeface="Calibri"/>
              </a:rPr>
              <a:t>MÊS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2468880"/>
            <a:ext cx="914400" cy="123444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2816352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Pessimista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72768" y="2468880"/>
            <a:ext cx="850392" cy="59436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572768" y="3063240"/>
            <a:ext cx="85039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91056" y="2523744"/>
            <a:ext cx="813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71C1C"/>
                </a:solidFill>
                <a:latin typeface="Calibri"/>
              </a:rPr>
              <a:t>12K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91056" y="3090672"/>
            <a:ext cx="813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R$322K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41448" y="2468880"/>
            <a:ext cx="850392" cy="59436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441448" y="3063240"/>
            <a:ext cx="85039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59736" y="2523744"/>
            <a:ext cx="813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71C1C"/>
                </a:solidFill>
                <a:latin typeface="Calibri"/>
              </a:rPr>
              <a:t>23K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59736" y="3090672"/>
            <a:ext cx="813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R$580K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10128" y="2468880"/>
            <a:ext cx="850392" cy="59436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310128" y="3063240"/>
            <a:ext cx="85039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28416" y="2523744"/>
            <a:ext cx="813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71C1C"/>
                </a:solidFill>
                <a:latin typeface="Calibri"/>
              </a:rPr>
              <a:t>33K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28416" y="3090672"/>
            <a:ext cx="813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R$838K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78807" y="2468880"/>
            <a:ext cx="850392" cy="59436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178807" y="3063240"/>
            <a:ext cx="85039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97095" y="2523744"/>
            <a:ext cx="813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71C1C"/>
                </a:solidFill>
                <a:latin typeface="Calibri"/>
              </a:rPr>
              <a:t>41K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97095" y="3090672"/>
            <a:ext cx="813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R$1031K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47488" y="2468880"/>
            <a:ext cx="850392" cy="59436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47488" y="3063240"/>
            <a:ext cx="85039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65775" y="2523744"/>
            <a:ext cx="813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71C1C"/>
                </a:solidFill>
                <a:latin typeface="Calibri"/>
              </a:rPr>
              <a:t>47K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65775" y="3090672"/>
            <a:ext cx="813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R$1186K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16168" y="2468880"/>
            <a:ext cx="850392" cy="59436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916168" y="3063240"/>
            <a:ext cx="85039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34455" y="2523744"/>
            <a:ext cx="813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71C1C"/>
                </a:solidFill>
                <a:latin typeface="Calibri"/>
              </a:rPr>
              <a:t>51K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34455" y="3090672"/>
            <a:ext cx="813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R$1289K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84847" y="2468880"/>
            <a:ext cx="850392" cy="59436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784847" y="3063240"/>
            <a:ext cx="85039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03135" y="2523744"/>
            <a:ext cx="813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71C1C"/>
                </a:solidFill>
                <a:latin typeface="Calibri"/>
              </a:rPr>
              <a:t>51K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03135" y="3090672"/>
            <a:ext cx="813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R$1289K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653527" y="2468880"/>
            <a:ext cx="850392" cy="59436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653527" y="3063240"/>
            <a:ext cx="85039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671815" y="2523744"/>
            <a:ext cx="813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71C1C"/>
                </a:solidFill>
                <a:latin typeface="Calibri"/>
              </a:rPr>
              <a:t>51K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71815" y="3090672"/>
            <a:ext cx="813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R$1289K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522208" y="2468880"/>
            <a:ext cx="850392" cy="59436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522208" y="3063240"/>
            <a:ext cx="85039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540496" y="2523744"/>
            <a:ext cx="813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71C1C"/>
                </a:solidFill>
                <a:latin typeface="Calibri"/>
              </a:rPr>
              <a:t>51K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40496" y="3090672"/>
            <a:ext cx="813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R$1289K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390888" y="2468880"/>
            <a:ext cx="850392" cy="59436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390888" y="3063240"/>
            <a:ext cx="85039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409176" y="2523744"/>
            <a:ext cx="813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71C1C"/>
                </a:solidFill>
                <a:latin typeface="Calibri"/>
              </a:rPr>
              <a:t>51K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409176" y="3090672"/>
            <a:ext cx="813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R$1289K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259568" y="2468880"/>
            <a:ext cx="850392" cy="59436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259568" y="3063240"/>
            <a:ext cx="85039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277856" y="2523744"/>
            <a:ext cx="813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71C1C"/>
                </a:solidFill>
                <a:latin typeface="Calibri"/>
              </a:rPr>
              <a:t>51K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77856" y="3090672"/>
            <a:ext cx="813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R$1289K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1128248" y="2468880"/>
            <a:ext cx="850392" cy="59436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1128248" y="3063240"/>
            <a:ext cx="85039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1146536" y="2523744"/>
            <a:ext cx="813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71C1C"/>
                </a:solidFill>
                <a:latin typeface="Calibri"/>
              </a:rPr>
              <a:t>51K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146536" y="3090672"/>
            <a:ext cx="813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R$1289K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0080" y="3794760"/>
            <a:ext cx="914400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58368" y="4142232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Realista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572768" y="3794760"/>
            <a:ext cx="850392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572768" y="4389120"/>
            <a:ext cx="850392" cy="621792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591056" y="3849624"/>
            <a:ext cx="813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  <a:latin typeface="Calibri"/>
              </a:rPr>
              <a:t>22K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591056" y="4416552"/>
            <a:ext cx="813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R$552K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441448" y="3794760"/>
            <a:ext cx="850392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441448" y="4389120"/>
            <a:ext cx="850392" cy="621792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459736" y="3849624"/>
            <a:ext cx="813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  <a:latin typeface="Calibri"/>
              </a:rPr>
              <a:t>39K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459736" y="4416552"/>
            <a:ext cx="813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R$993K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310128" y="3794760"/>
            <a:ext cx="850392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310128" y="4389120"/>
            <a:ext cx="850392" cy="621792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328416" y="3849624"/>
            <a:ext cx="813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  <a:latin typeface="Calibri"/>
              </a:rPr>
              <a:t>57K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328416" y="4416552"/>
            <a:ext cx="813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R$1434K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178807" y="3794760"/>
            <a:ext cx="850392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178807" y="4389120"/>
            <a:ext cx="850392" cy="621792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197095" y="3849624"/>
            <a:ext cx="813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  <a:latin typeface="Calibri"/>
              </a:rPr>
              <a:t>70K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197095" y="4416552"/>
            <a:ext cx="813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R$1765K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047488" y="3794760"/>
            <a:ext cx="850392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047488" y="4389120"/>
            <a:ext cx="850392" cy="621792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065775" y="3849624"/>
            <a:ext cx="813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  <a:latin typeface="Calibri"/>
              </a:rPr>
              <a:t>81K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065775" y="4416552"/>
            <a:ext cx="813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R$2030K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916168" y="3794760"/>
            <a:ext cx="850392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916168" y="4389120"/>
            <a:ext cx="850392" cy="621792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934455" y="3849624"/>
            <a:ext cx="813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  <a:latin typeface="Calibri"/>
              </a:rPr>
              <a:t>88K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934455" y="4416552"/>
            <a:ext cx="813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R$2207K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784847" y="3794760"/>
            <a:ext cx="850392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784847" y="4389120"/>
            <a:ext cx="850392" cy="621792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803135" y="3849624"/>
            <a:ext cx="813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  <a:latin typeface="Calibri"/>
              </a:rPr>
              <a:t>88K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803135" y="4416552"/>
            <a:ext cx="813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R$2207K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653527" y="3794760"/>
            <a:ext cx="850392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7653527" y="4389120"/>
            <a:ext cx="850392" cy="621792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671815" y="3849624"/>
            <a:ext cx="813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  <a:latin typeface="Calibri"/>
              </a:rPr>
              <a:t>88K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671815" y="4416552"/>
            <a:ext cx="813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R$2207K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522208" y="3794760"/>
            <a:ext cx="850392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522208" y="4389120"/>
            <a:ext cx="850392" cy="621792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540496" y="3849624"/>
            <a:ext cx="813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  <a:latin typeface="Calibri"/>
              </a:rPr>
              <a:t>88K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540496" y="4416552"/>
            <a:ext cx="813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R$2207K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390888" y="3794760"/>
            <a:ext cx="850392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9390888" y="4389120"/>
            <a:ext cx="850392" cy="621792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409176" y="3849624"/>
            <a:ext cx="813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  <a:latin typeface="Calibri"/>
              </a:rPr>
              <a:t>88K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409176" y="4416552"/>
            <a:ext cx="813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R$2207K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259568" y="3794760"/>
            <a:ext cx="850392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0259568" y="4389120"/>
            <a:ext cx="850392" cy="621792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0277856" y="3849624"/>
            <a:ext cx="813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  <a:latin typeface="Calibri"/>
              </a:rPr>
              <a:t>88K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277856" y="4416552"/>
            <a:ext cx="813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R$2207K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1128248" y="3794760"/>
            <a:ext cx="850392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1128248" y="4389120"/>
            <a:ext cx="850392" cy="621792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1146536" y="3849624"/>
            <a:ext cx="813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  <a:latin typeface="Calibri"/>
              </a:rPr>
              <a:t>88K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1146536" y="4416552"/>
            <a:ext cx="813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R$2207K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40080" y="5120640"/>
            <a:ext cx="914400" cy="12344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58368" y="5468112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Otimista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572768" y="5120640"/>
            <a:ext cx="850392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572768" y="5715000"/>
            <a:ext cx="85039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591056" y="5175503"/>
            <a:ext cx="813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47A1"/>
                </a:solidFill>
                <a:latin typeface="Calibri"/>
              </a:rPr>
              <a:t>35K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591056" y="5742431"/>
            <a:ext cx="813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R$874K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441448" y="5120640"/>
            <a:ext cx="850392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2441448" y="5715000"/>
            <a:ext cx="85039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2459736" y="5175503"/>
            <a:ext cx="813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47A1"/>
                </a:solidFill>
                <a:latin typeface="Calibri"/>
              </a:rPr>
              <a:t>63K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459736" y="5742431"/>
            <a:ext cx="813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R$1573K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310128" y="5120640"/>
            <a:ext cx="850392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3310128" y="5715000"/>
            <a:ext cx="85039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328416" y="5175503"/>
            <a:ext cx="813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47A1"/>
                </a:solidFill>
                <a:latin typeface="Calibri"/>
              </a:rPr>
              <a:t>91K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328416" y="5742431"/>
            <a:ext cx="813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R$2272K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178807" y="5120640"/>
            <a:ext cx="850392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4178807" y="5715000"/>
            <a:ext cx="85039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197095" y="5175503"/>
            <a:ext cx="813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47A1"/>
                </a:solidFill>
                <a:latin typeface="Calibri"/>
              </a:rPr>
              <a:t>112K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197095" y="5742431"/>
            <a:ext cx="813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R$2797K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5047488" y="5120640"/>
            <a:ext cx="850392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5047488" y="5715000"/>
            <a:ext cx="85039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065775" y="5175503"/>
            <a:ext cx="813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47A1"/>
                </a:solidFill>
                <a:latin typeface="Calibri"/>
              </a:rPr>
              <a:t>129K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065775" y="5742431"/>
            <a:ext cx="813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R$3216K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916168" y="5120640"/>
            <a:ext cx="850392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5916168" y="5715000"/>
            <a:ext cx="85039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5934455" y="5175503"/>
            <a:ext cx="813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47A1"/>
                </a:solidFill>
                <a:latin typeface="Calibri"/>
              </a:rPr>
              <a:t>140K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934455" y="5742431"/>
            <a:ext cx="813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R$3496K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784847" y="5120640"/>
            <a:ext cx="850392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784847" y="5715000"/>
            <a:ext cx="85039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803135" y="5175503"/>
            <a:ext cx="813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47A1"/>
                </a:solidFill>
                <a:latin typeface="Calibri"/>
              </a:rPr>
              <a:t>140K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803135" y="5742431"/>
            <a:ext cx="813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R$3496K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7653527" y="5120640"/>
            <a:ext cx="850392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653527" y="5715000"/>
            <a:ext cx="85039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7671815" y="5175503"/>
            <a:ext cx="813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47A1"/>
                </a:solidFill>
                <a:latin typeface="Calibri"/>
              </a:rPr>
              <a:t>140K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671815" y="5742431"/>
            <a:ext cx="813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R$3496K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522208" y="5120640"/>
            <a:ext cx="850392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8522208" y="5715000"/>
            <a:ext cx="85039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8540496" y="5175503"/>
            <a:ext cx="813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47A1"/>
                </a:solidFill>
                <a:latin typeface="Calibri"/>
              </a:rPr>
              <a:t>140K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540496" y="5742431"/>
            <a:ext cx="813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R$3496K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9390888" y="5120640"/>
            <a:ext cx="850392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9390888" y="5715000"/>
            <a:ext cx="85039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9409176" y="5175503"/>
            <a:ext cx="813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47A1"/>
                </a:solidFill>
                <a:latin typeface="Calibri"/>
              </a:rPr>
              <a:t>140K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9409176" y="5742431"/>
            <a:ext cx="813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R$3496K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0259568" y="5120640"/>
            <a:ext cx="850392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10259568" y="5715000"/>
            <a:ext cx="85039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10277856" y="5175503"/>
            <a:ext cx="813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47A1"/>
                </a:solidFill>
                <a:latin typeface="Calibri"/>
              </a:rPr>
              <a:t>140K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277856" y="5742431"/>
            <a:ext cx="813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R$3496K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1128248" y="5120640"/>
            <a:ext cx="850392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11128248" y="5715000"/>
            <a:ext cx="85039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1146536" y="5175503"/>
            <a:ext cx="813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47A1"/>
                </a:solidFill>
                <a:latin typeface="Calibri"/>
              </a:rPr>
              <a:t>140K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1146536" y="5742431"/>
            <a:ext cx="813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R$3496K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640080" y="6492240"/>
            <a:ext cx="11091672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822960" y="651052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16161"/>
                </a:solidFill>
                <a:latin typeface="Calibri"/>
              </a:rPr>
              <a:t>▲ = unidades  |  ▼ = receita bruta (R$)  |  Ramp-up: M1=25% → M3=65% → M6=100% do volume maduro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E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914400"/>
          </a:xfrm>
          <a:prstGeom prst="rect">
            <a:avLst/>
          </a:prstGeom>
          <a:solidFill>
            <a:srgbClr val="3E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73A"/>
                </a:solidFill>
                <a:latin typeface="Calibri"/>
              </a:rPr>
              <a:t>07  |  PAPEL NO PORTFÓLIO &amp; CANIBALIZAÇÃO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246888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06070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TRÁFEGO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572768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E1C00"/>
                </a:solidFill>
                <a:latin typeface="Calibri"/>
              </a:rPr>
              <a:t>Atrai visitas no período matinal
(8–11h) — ocasião nova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46888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06070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UPSELL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572768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E1C00"/>
                </a:solidFill>
                <a:latin typeface="Calibri"/>
              </a:rPr>
              <a:t>Complemento natural ao café
expresso — +R$24,90 no cupom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005840"/>
            <a:ext cx="2468880" cy="5029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6070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NOVIDADE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572768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E1C00"/>
                </a:solidFill>
                <a:latin typeface="Calibri"/>
              </a:rPr>
              <a:t>Produto único no mercado — gera
buzz e conteúdo orgânico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1005840"/>
            <a:ext cx="2468880" cy="502920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19" y="106070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ROTINA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19" y="1572768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E1C00"/>
                </a:solidFill>
                <a:latin typeface="Calibri"/>
              </a:rPr>
              <a:t>Potencial de virar hábito diário
— consumo recorrente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514600"/>
            <a:ext cx="11091672" cy="411480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560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ANÁLISE DE CANIBALIZAÇÃO — RISCO POR CATEGORIA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999232"/>
            <a:ext cx="2286000" cy="59436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10896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1C00"/>
                </a:solidFill>
                <a:latin typeface="Calibri"/>
              </a:rPr>
              <a:t>Chocolates Quentes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71800" y="2999232"/>
            <a:ext cx="1371600" cy="5943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0" y="312724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🟢 BAIXO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108960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E1C00"/>
                </a:solidFill>
                <a:latin typeface="Calibri"/>
              </a:rPr>
              <a:t>Produto frio vs quente — ocasião e temperatura diferentes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685031"/>
            <a:ext cx="2286000" cy="59436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794759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1C00"/>
                </a:solidFill>
                <a:latin typeface="Calibri"/>
              </a:rPr>
              <a:t>Bolos e Tortas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71800" y="3685031"/>
            <a:ext cx="1371600" cy="5943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17520" y="3813047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🟢 BAIXO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794759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E1C00"/>
                </a:solidFill>
                <a:latin typeface="Calibri"/>
              </a:rPr>
              <a:t>Tiramiwafer é mais leve e rápido — não substitui refeição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370831"/>
            <a:ext cx="2286000" cy="59436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480559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1C00"/>
                </a:solidFill>
                <a:latin typeface="Calibri"/>
              </a:rPr>
              <a:t>Sundaes / Sorvetes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71800" y="4370831"/>
            <a:ext cx="1371600" cy="59436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4498847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🟡 MÉDIO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4480559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E1C00"/>
                </a:solidFill>
                <a:latin typeface="Calibri"/>
              </a:rPr>
              <a:t>Textura semelhante (cremosa/fria) — posicionar como 'bebida matinal'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056631"/>
            <a:ext cx="2286000" cy="59436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166359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1C00"/>
                </a:solidFill>
                <a:latin typeface="Calibri"/>
              </a:rPr>
              <a:t>Bebidas Frias Atuais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71800" y="5056631"/>
            <a:ext cx="1371600" cy="59436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17520" y="5184647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🟡 MÉDIO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5166359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E1C00"/>
                </a:solidFill>
                <a:latin typeface="Calibri"/>
              </a:rPr>
              <a:t>Monitorar mix mensalmente — agir se queda &gt;15% em outros SKUs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760720"/>
            <a:ext cx="11091672" cy="411480"/>
          </a:xfrm>
          <a:prstGeom prst="rect">
            <a:avLst/>
          </a:prstGeom>
          <a:solidFill>
            <a:srgbClr val="3E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806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973A"/>
                </a:solidFill>
                <a:latin typeface="Calibri"/>
              </a:rPr>
              <a:t>GAPS DO PORTFÓLIO ENDEREÇADOS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6236208"/>
            <a:ext cx="210312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" y="6281928"/>
            <a:ext cx="1993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✅ Produto matinal rápido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80360" y="6236208"/>
            <a:ext cx="210312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35224" y="6281928"/>
            <a:ext cx="1993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✅ Wafer como hero ingredient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120640" y="6236208"/>
            <a:ext cx="210312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6281928"/>
            <a:ext cx="1993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✅ Produto 'instagramável'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60920" y="6236208"/>
            <a:ext cx="210312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15784" y="6281928"/>
            <a:ext cx="1993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✅ Elevação do TM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01200" y="6236208"/>
            <a:ext cx="210312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56064" y="6281928"/>
            <a:ext cx="1993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✅ Ocasião fora de datas sazonais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1C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914400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73A"/>
                </a:solidFill>
                <a:latin typeface="Calibri"/>
              </a:rPr>
              <a:t>06  |  VIABILIDADE FINANCEIRA — PONTO DE EQUILÍBRIO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3474720" cy="24688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344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PAYBACK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19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&lt; 1 mês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Investimento R$ 500K recuperado no M1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24688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2344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CMC/UN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645919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R$ 14,60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560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58,6% da Receita Bruta (target: 48%)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59" y="1051560"/>
            <a:ext cx="3474720" cy="2468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2344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ROI ANO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1645919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2606%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560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Margem total / Investimento lançamento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31920"/>
            <a:ext cx="5303520" cy="228600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PE REDE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262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34.247 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4067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Unidades para recuperar investimento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931920"/>
            <a:ext cx="5303520" cy="228600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PE/LOJA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5262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43 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44067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Cumulativo — &lt; 1 semana de vendas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852160"/>
            <a:ext cx="11091672" cy="320040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888736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RECUPERAÇÃO ACUMULADA DO INVESTIMENTO — CENÁRIO REALISTA (R$ 500K)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236208"/>
            <a:ext cx="1783080" cy="50292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628192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M1: R$323K (65%)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14600" y="6236208"/>
            <a:ext cx="178308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0" y="628192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M2: R$906K (100%)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6236208"/>
            <a:ext cx="178308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4840" y="628192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M3: R$1747K (100%)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6236208"/>
            <a:ext cx="178308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59" y="628192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M4: R$2782K (100%)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59" y="6236208"/>
            <a:ext cx="178308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79" y="628192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M5: R$3972K (100%)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12680" y="6236208"/>
            <a:ext cx="178308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0" y="628192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M6: R$5266K (100%)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E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914400"/>
          </a:xfrm>
          <a:prstGeom prst="rect">
            <a:avLst/>
          </a:prstGeom>
          <a:solidFill>
            <a:srgbClr val="3E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73A"/>
                </a:solidFill>
                <a:latin typeface="Calibri"/>
              </a:rPr>
              <a:t>08  |  PLANO GO-TO-MARKET — CRONOGRAMA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2103120" cy="457200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0515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D-60
D-45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2103120" cy="640080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157276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PRÉ-
PRODUÇÃO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76272"/>
            <a:ext cx="2103120" cy="2286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240280"/>
            <a:ext cx="19202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E1C00"/>
                </a:solidFill>
                <a:latin typeface="Calibri"/>
              </a:rPr>
              <a:t>Ficha técnica final
Aprovação regulatória
POS materials
Fotografia/vídeo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673352"/>
            <a:ext cx="182880" cy="32004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0" y="1005840"/>
            <a:ext cx="210312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10515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D-30
D-15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1508760"/>
            <a:ext cx="2103120" cy="640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157276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PRÉ-
LANÇAMENTO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176272"/>
            <a:ext cx="2103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2240280"/>
            <a:ext cx="19202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E1C00"/>
                </a:solidFill>
                <a:latin typeface="Calibri"/>
              </a:rPr>
              <a:t>Treinamento digital
(QR code nas lojas)
Tease redes sociais
Distribuição insumos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1673352"/>
            <a:ext cx="182880" cy="32004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2080" y="1005840"/>
            <a:ext cx="2103120" cy="45720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10515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0" y="1508760"/>
            <a:ext cx="2103120" cy="64008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157276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LANÇAMENTO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80" y="2176272"/>
            <a:ext cx="2103120" cy="2286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2240280"/>
            <a:ext cx="19202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E1C00"/>
                </a:solidFill>
                <a:latin typeface="Calibri"/>
              </a:rPr>
              <a:t>Ativação simultânea
800 lojas
Sampling grátis
Influenciadores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1673352"/>
            <a:ext cx="182880" cy="32004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98079" y="1005840"/>
            <a:ext cx="2103120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19" y="10515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D+7
D+30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1508760"/>
            <a:ext cx="2103120" cy="6400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19" y="157276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ACELERAÇÃO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9" y="2176272"/>
            <a:ext cx="2103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19" y="2240280"/>
            <a:ext cx="19202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E1C00"/>
                </a:solidFill>
                <a:latin typeface="Calibri"/>
              </a:rPr>
              <a:t>Monitoring sell-out
Micro-influencers
Ajuste mix lojas
Push lojas frias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0" y="1673352"/>
            <a:ext cx="182880" cy="32004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784080" y="1005840"/>
            <a:ext cx="2103120" cy="457200"/>
          </a:xfrm>
          <a:prstGeom prst="rect">
            <a:avLst/>
          </a:prstGeom>
          <a:solidFill>
            <a:srgbClr val="3E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19" y="10515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D+45
D+60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84080" y="1508760"/>
            <a:ext cx="2103120" cy="640080"/>
          </a:xfrm>
          <a:prstGeom prst="rect">
            <a:avLst/>
          </a:prstGeom>
          <a:solidFill>
            <a:srgbClr val="3E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19" y="157276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AVALIAÇÃO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84080" y="2176272"/>
            <a:ext cx="2103120" cy="2286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5519" y="2240280"/>
            <a:ext cx="19202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E1C00"/>
                </a:solidFill>
                <a:latin typeface="Calibri"/>
              </a:rPr>
              <a:t>Análise M1
NPS produto
Projeção revisada
Go/no-go escala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4663440"/>
            <a:ext cx="11091672" cy="384048"/>
          </a:xfrm>
          <a:prstGeom prst="rect">
            <a:avLst/>
          </a:prstGeom>
          <a:solidFill>
            <a:srgbClr val="3E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470916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973A"/>
                </a:solidFill>
                <a:latin typeface="Calibri"/>
              </a:rPr>
              <a:t>ORÇAMENTO DE LANÇAMENTO — R$ 500.000 (one-time)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5102352"/>
            <a:ext cx="1404518" cy="82296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138928"/>
            <a:ext cx="131307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E1C00"/>
                </a:solidFill>
                <a:latin typeface="Calibri"/>
              </a:rPr>
              <a:t>POS Materials
(R$80×800)
R$ 64K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44598" y="5102352"/>
            <a:ext cx="4389120" cy="82296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90318" y="5138928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E1C00"/>
                </a:solidFill>
                <a:latin typeface="Calibri"/>
              </a:rPr>
              <a:t>Campanha
Digital
R$ 200K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33718" y="5102352"/>
            <a:ext cx="351129" cy="82296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784848" y="5102352"/>
            <a:ext cx="1755648" cy="822960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30568" y="5138928"/>
            <a:ext cx="166420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Conteúdo
Foto/Vídeo
R$ 80K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40496" y="5102352"/>
            <a:ext cx="658368" cy="82296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86216" y="5138928"/>
            <a:ext cx="5669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E1C00"/>
                </a:solidFill>
                <a:latin typeface="Calibri"/>
              </a:rPr>
              <a:t>PR /
Imprensa
R$ 30K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98864" y="5102352"/>
            <a:ext cx="175564" cy="82296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374428" y="5102352"/>
            <a:ext cx="1141171" cy="822960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20148" y="5138928"/>
            <a:ext cx="104973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Contingência
R$ 52K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15600" y="5102352"/>
            <a:ext cx="1097280" cy="8229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61320" y="5138928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Mkt Recorr.
/mês
R$ 50K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6035040"/>
            <a:ext cx="11091672" cy="65836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0080" y="6035040"/>
            <a:ext cx="109728" cy="65836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" y="6089904"/>
            <a:ext cx="2148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5E20"/>
                </a:solidFill>
                <a:latin typeface="Calibri"/>
              </a:rPr>
              <a:t>KR1: 35K un/rede no Mês 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63240" y="6089904"/>
            <a:ext cx="2148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5E20"/>
                </a:solidFill>
                <a:latin typeface="Calibri"/>
              </a:rPr>
              <a:t>KR2: 2% penetração lojas Média até M3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03520" y="6089904"/>
            <a:ext cx="2148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5E20"/>
                </a:solidFill>
                <a:latin typeface="Calibri"/>
              </a:rPr>
              <a:t>KR3: NPS ≥ 70 em 60 dias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43800" y="6089904"/>
            <a:ext cx="2148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5E20"/>
                </a:solidFill>
                <a:latin typeface="Calibri"/>
              </a:rPr>
              <a:t>KR4: 500+ menções orgânicas em 30 dias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0" y="6089904"/>
            <a:ext cx="2148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5E20"/>
                </a:solidFill>
                <a:latin typeface="Calibri"/>
              </a:rPr>
              <a:t>KR5: TM rede +R$0,50 até M6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E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914400"/>
          </a:xfrm>
          <a:prstGeom prst="rect">
            <a:avLst/>
          </a:prstGeom>
          <a:solidFill>
            <a:srgbClr val="3E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73A"/>
                </a:solidFill>
                <a:latin typeface="Calibri"/>
              </a:rPr>
              <a:t>09  |  ANÁLISE DE RISCOS &amp; MITIGAÇÃO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1091672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109728" cy="1261872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051560"/>
            <a:ext cx="1371600" cy="1261872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ALTO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1064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16161"/>
                </a:solidFill>
                <a:latin typeface="Calibri"/>
              </a:rPr>
              <a:t>RISCO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34416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1C00"/>
                </a:solidFill>
                <a:latin typeface="Calibri"/>
              </a:rPr>
              <a:t>Baixa adesão nas
487 lojas de baixa
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1064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71C1C"/>
                </a:solidFill>
                <a:latin typeface="Calibri"/>
              </a:rPr>
              <a:t>MITIGAÇÃO 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344168"/>
            <a:ext cx="6492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E1C00"/>
                </a:solidFill>
                <a:latin typeface="Calibri"/>
              </a:rPr>
              <a:t>Rollout em fases: lançar primeiro nas 316 lojas de média/alta performance. Validar sell-out antes de escalar para lojas de baixo tráfego.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423160"/>
            <a:ext cx="11091672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423160"/>
            <a:ext cx="109728" cy="1261872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423160"/>
            <a:ext cx="1371600" cy="1261872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679191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20040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MÉDIO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4780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16161"/>
                </a:solidFill>
                <a:latin typeface="Calibri"/>
              </a:rPr>
              <a:t>RISCO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271576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1C00"/>
                </a:solidFill>
                <a:latin typeface="Calibri"/>
              </a:rPr>
              <a:t>Custo do chantilly
sobe acima do
previsto (65% do CPV)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4780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F00"/>
                </a:solidFill>
                <a:latin typeface="Calibri"/>
              </a:rPr>
              <a:t>MITIGAÇÃO 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715768"/>
            <a:ext cx="6492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E1C00"/>
                </a:solidFill>
                <a:latin typeface="Calibri"/>
              </a:rPr>
              <a:t>Fechar contrato trimestral com preço fixo. Monitorar custo mensalmente. Cada R$1 de aumento no CPV reduz CMC em R$1.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794760"/>
            <a:ext cx="11091672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794760"/>
            <a:ext cx="109728" cy="1261872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3794760"/>
            <a:ext cx="1371600" cy="1261872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050792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57200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MÉDIO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38496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16161"/>
                </a:solidFill>
                <a:latin typeface="Calibri"/>
              </a:rPr>
              <a:t>RISCO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408736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1C00"/>
                </a:solidFill>
                <a:latin typeface="Calibri"/>
              </a:rPr>
              <a:t>Queda de demanda
no inverno
(produto frio)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38496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F00"/>
                </a:solidFill>
                <a:latin typeface="Calibri"/>
              </a:rPr>
              <a:t>MITIGAÇÃO 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4087368"/>
            <a:ext cx="6492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E1C00"/>
                </a:solidFill>
                <a:latin typeface="Calibri"/>
              </a:rPr>
              <a:t>Desenvolver versão quente 'Tiramiwafer Quente' para Jun/Jul/Ago, aproveitando mesmos insumos com ajuste de temperatura.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166360"/>
            <a:ext cx="11091672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5166360"/>
            <a:ext cx="109728" cy="12618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" y="5166360"/>
            <a:ext cx="1371600" cy="12618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422392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94360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BAIXO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40280" y="52212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16161"/>
                </a:solidFill>
                <a:latin typeface="Calibri"/>
              </a:rPr>
              <a:t>RISCO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5896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1C00"/>
                </a:solidFill>
                <a:latin typeface="Calibri"/>
              </a:rPr>
              <a:t>Canibalização de
bebidas frias
existentes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52212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MITIGAÇÃO 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5458968"/>
            <a:ext cx="6492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E1C00"/>
                </a:solidFill>
                <a:latin typeface="Calibri"/>
              </a:rPr>
              <a:t>Posicionar como 'bebida matinal' — não como sobremesa. Monitorar mix de bebidas frias mensalmente. Agir se queda &gt;15% em outros SKUs.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6492240"/>
            <a:ext cx="11091672" cy="274320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651967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⚠️  Expansão além de 800 lojas: risco principal = supply chain de chantilly. Mitigação: homologar 2–3 fornecedores com 6 meses de antecedência.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1C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914400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73A"/>
                </a:solidFill>
                <a:latin typeface="Calibri"/>
              </a:rPr>
              <a:t>10  |  EXECUTIVE SUMMARY &amp; PRÓXIMOS PASSOS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6583680" cy="5303520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115568"/>
            <a:ext cx="6309360" cy="347472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152144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1C00"/>
                </a:solidFill>
                <a:latin typeface="Calibri"/>
              </a:rPr>
              <a:t>💡 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99616"/>
            <a:ext cx="6126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60,7% das lojas em baixa perf.
Período matinal inexplorado.
Ausência de produto quick-indulgence com wafer K.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95728"/>
            <a:ext cx="6309360" cy="347472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32304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1C00"/>
                </a:solidFill>
                <a:latin typeface="Calibri"/>
              </a:rPr>
              <a:t>🍫 THE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79776"/>
            <a:ext cx="6126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Shot matinal — chantilly + wafer avelã K + choc. 100%.
Pronto em 5 min. Sem equipamento novo. Visual instagramável.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675887"/>
            <a:ext cx="6309360" cy="347472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12463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1C00"/>
                </a:solidFill>
                <a:latin typeface="Calibri"/>
              </a:rPr>
              <a:t>📊 THE NUMBERS (Realista, Ano 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059935"/>
            <a:ext cx="6126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Receita Bruta: R$ 22.2M  |  CMC: 58,6%
Volume: 892,453 un  |  Payback: &lt; 1 mês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956047"/>
            <a:ext cx="6309360" cy="347472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3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1C00"/>
                </a:solidFill>
                <a:latin typeface="Calibri"/>
              </a:rPr>
              <a:t>💰 THE RETURNS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40095"/>
            <a:ext cx="6126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Investimento: R$ 500K  |  ROI: 2606%
PE: 34.247 un rede  |  CMC total: R$ 13.0M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1005840"/>
            <a:ext cx="4572000" cy="2560320"/>
          </a:xfrm>
          <a:prstGeom prst="rect">
            <a:avLst/>
          </a:prstGeom>
          <a:solidFill>
            <a:srgbClr val="4A2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107899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973A"/>
                </a:solidFill>
                <a:latin typeface="Calibri"/>
              </a:rPr>
              <a:t>🎯 TOP 3 INSIGHTS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1508760"/>
            <a:ext cx="182880" cy="54864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2" y="1536192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O wafer K é ativo subutilizado. Tiramiwafer é sua primeira expressão em bebida — IP único.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2221991"/>
            <a:ext cx="182880" cy="54864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62672" y="2249424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Resolve 2 KPIs simultâneos: eleva TM E gera novas ocasiões de consumo.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2935224"/>
            <a:ext cx="182880" cy="54864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62672" y="2962656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Risco assimétrico: R$500K invest. vs R$13M CMC projetado. Não lançar é o maior risco.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3703320"/>
            <a:ext cx="4572000" cy="2606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800" y="377647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✅ PRÓXIMOS PASSOS (4 semanas)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52360" y="4224528"/>
            <a:ext cx="7772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79792" y="4279392"/>
            <a:ext cx="713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5E20"/>
                </a:solidFill>
                <a:latin typeface="Calibri"/>
              </a:rPr>
              <a:t>Sem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427939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Aprovação da ficha técnica e precificação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52360" y="4754880"/>
            <a:ext cx="7772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79792" y="4809744"/>
            <a:ext cx="713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5E20"/>
                </a:solidFill>
                <a:latin typeface="Calibri"/>
              </a:rPr>
              <a:t>Sem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480974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Brief de marketing + contratação conteúdo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52360" y="5285232"/>
            <a:ext cx="7772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79792" y="5340096"/>
            <a:ext cx="713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5E20"/>
                </a:solidFill>
                <a:latin typeface="Calibri"/>
              </a:rPr>
              <a:t>Sem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2" y="534009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Piloto 20 lojas (mix alta + média perf.)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52360" y="5815583"/>
            <a:ext cx="7772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79792" y="5870447"/>
            <a:ext cx="713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5E20"/>
                </a:solidFill>
                <a:latin typeface="Calibri"/>
              </a:rPr>
              <a:t>Sem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5870447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Análise do piloto → Go/No-Go nacional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6446520"/>
            <a:ext cx="11091672" cy="347472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6483096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E1C00"/>
                </a:solidFill>
                <a:latin typeface="Calibri"/>
              </a:rPr>
              <a:t>VEREDITO: ✅ LANÇAR — Alta margem | Sem capex | Payback &lt; 1 mês | Upside R$13M CMC | Risco operacional baixo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1C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0"/>
            <a:ext cx="11731752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C8973A"/>
                </a:solidFill>
                <a:latin typeface="Calibri"/>
              </a:rPr>
              <a:t>TIRAMIWAFER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FF8F0"/>
                </a:solidFill>
                <a:latin typeface="Calibri"/>
              </a:rPr>
              <a:t>O prazer do Tiramisù em formato de 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Kopenhagen  ·  Inovação &amp; Renovação  ·  Maio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973A"/>
                </a:solidFill>
                <a:latin typeface="Calibri"/>
              </a:rPr>
              <a:t>Disponível para perguntas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16161"/>
                </a:solidFill>
                <a:latin typeface="Calibri"/>
              </a:rPr>
              <a:t>CONFIDENCIAL  |  Uso interno Kopenhagen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